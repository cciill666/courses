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8" r:id="rId4"/>
    <p:sldId id="257" r:id="rId5"/>
    <p:sldId id="260" r:id="rId6"/>
    <p:sldId id="262" r:id="rId7"/>
    <p:sldId id="266" r:id="rId8"/>
    <p:sldId id="263" r:id="rId9"/>
    <p:sldId id="264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6"/>
          <p:cNvSpPr>
            <a:spLocks noGrp="1"/>
          </p:cNvSpPr>
          <p:nvPr>
            <p:ph type="ctrTitle"/>
          </p:nvPr>
        </p:nvSpPr>
        <p:spPr>
          <a:xfrm>
            <a:off x="1524000" y="2900053"/>
            <a:ext cx="9144000" cy="979953"/>
          </a:xfrm>
        </p:spPr>
        <p:txBody>
          <a:bodyPr anchor="b">
            <a:noAutofit/>
          </a:bodyPr>
          <a:lstStyle>
            <a:lvl1pPr algn="ctr">
              <a:defRPr sz="64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1524000" y="3982720"/>
            <a:ext cx="9144000" cy="41656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六边形 3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2" cy="601662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060344" y="506729"/>
            <a:ext cx="10515600" cy="6013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ED714-68C8-44B6-9732-DDF7DD97772E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7581E-C9C7-4035-8AC9-880348F0A73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" t="4927" r="2299" b="5486"/>
          <a:stretch>
            <a:fillRect/>
          </a:stretch>
        </p:blipFill>
        <p:spPr bwMode="auto">
          <a:xfrm>
            <a:off x="1588" y="-6350"/>
            <a:ext cx="418465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六边形 7"/>
          <p:cNvSpPr/>
          <p:nvPr/>
        </p:nvSpPr>
        <p:spPr>
          <a:xfrm>
            <a:off x="3614738" y="2924175"/>
            <a:ext cx="1173162" cy="1009650"/>
          </a:xfrm>
          <a:prstGeom prst="hexagon">
            <a:avLst/>
          </a:prstGeom>
          <a:solidFill>
            <a:schemeClr val="accent2"/>
          </a:solidFill>
          <a:ln>
            <a:solidFill>
              <a:schemeClr val="accent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1904" y="2856792"/>
            <a:ext cx="4477001" cy="642117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31904" y="3571479"/>
            <a:ext cx="4477001" cy="43358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27CB2-5765-46B0-900D-55E01C878E8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六边形 4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2" cy="601662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1060344" y="506729"/>
            <a:ext cx="10515600" cy="6013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2" cy="601662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5618163" y="3517900"/>
            <a:ext cx="860425" cy="86042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r>
              <a:rPr lang="en-US" altLang="zh-CN" sz="2000" b="1" noProof="1">
                <a:solidFill>
                  <a:schemeClr val="bg1"/>
                </a:solidFill>
                <a:sym typeface="Arial" panose="020B0604020202020204" pitchFamily="34" charset="0"/>
              </a:rPr>
              <a:t>VS</a:t>
            </a:r>
            <a:endParaRPr lang="zh-CN" altLang="en-US" sz="1600" b="1" noProof="1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0344" y="506729"/>
            <a:ext cx="10515600" cy="6013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744961"/>
            <a:ext cx="40878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615610"/>
            <a:ext cx="4087811" cy="357405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168515" y="1744961"/>
            <a:ext cx="418687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168515" y="2615610"/>
            <a:ext cx="4186874" cy="357405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六边形 11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2" cy="601662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13" name="Freeform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36688" y="2400300"/>
            <a:ext cx="2468562" cy="565150"/>
          </a:xfrm>
          <a:custGeom>
            <a:avLst/>
            <a:gdLst>
              <a:gd name="T0" fmla="*/ 674 w 758"/>
              <a:gd name="T1" fmla="*/ 173 h 173"/>
              <a:gd name="T2" fmla="*/ 8 w 758"/>
              <a:gd name="T3" fmla="*/ 173 h 173"/>
              <a:gd name="T4" fmla="*/ 0 w 758"/>
              <a:gd name="T5" fmla="*/ 167 h 173"/>
              <a:gd name="T6" fmla="*/ 0 w 758"/>
              <a:gd name="T7" fmla="*/ 5 h 173"/>
              <a:gd name="T8" fmla="*/ 8 w 758"/>
              <a:gd name="T9" fmla="*/ 0 h 173"/>
              <a:gd name="T10" fmla="*/ 674 w 758"/>
              <a:gd name="T11" fmla="*/ 0 h 173"/>
              <a:gd name="T12" fmla="*/ 680 w 758"/>
              <a:gd name="T13" fmla="*/ 2 h 173"/>
              <a:gd name="T14" fmla="*/ 756 w 758"/>
              <a:gd name="T15" fmla="*/ 83 h 173"/>
              <a:gd name="T16" fmla="*/ 756 w 758"/>
              <a:gd name="T17" fmla="*/ 89 h 173"/>
              <a:gd name="T18" fmla="*/ 680 w 758"/>
              <a:gd name="T19" fmla="*/ 170 h 173"/>
              <a:gd name="T20" fmla="*/ 674 w 758"/>
              <a:gd name="T21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58" h="173">
                <a:moveTo>
                  <a:pt x="674" y="173"/>
                </a:moveTo>
                <a:cubicBezTo>
                  <a:pt x="8" y="173"/>
                  <a:pt x="8" y="173"/>
                  <a:pt x="8" y="173"/>
                </a:cubicBezTo>
                <a:cubicBezTo>
                  <a:pt x="4" y="173"/>
                  <a:pt x="0" y="170"/>
                  <a:pt x="0" y="167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4" y="0"/>
                  <a:pt x="8" y="0"/>
                </a:cubicBezTo>
                <a:cubicBezTo>
                  <a:pt x="674" y="0"/>
                  <a:pt x="674" y="0"/>
                  <a:pt x="674" y="0"/>
                </a:cubicBezTo>
                <a:cubicBezTo>
                  <a:pt x="677" y="0"/>
                  <a:pt x="679" y="1"/>
                  <a:pt x="680" y="2"/>
                </a:cubicBezTo>
                <a:cubicBezTo>
                  <a:pt x="756" y="83"/>
                  <a:pt x="756" y="83"/>
                  <a:pt x="756" y="83"/>
                </a:cubicBezTo>
                <a:cubicBezTo>
                  <a:pt x="758" y="85"/>
                  <a:pt x="758" y="87"/>
                  <a:pt x="756" y="89"/>
                </a:cubicBezTo>
                <a:cubicBezTo>
                  <a:pt x="680" y="170"/>
                  <a:pt x="680" y="170"/>
                  <a:pt x="680" y="170"/>
                </a:cubicBezTo>
                <a:cubicBezTo>
                  <a:pt x="679" y="172"/>
                  <a:pt x="677" y="173"/>
                  <a:pt x="674" y="17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5" name="Freeform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778250" y="2400300"/>
            <a:ext cx="2451100" cy="565150"/>
          </a:xfrm>
          <a:custGeom>
            <a:avLst/>
            <a:gdLst>
              <a:gd name="T0" fmla="*/ 669 w 753"/>
              <a:gd name="T1" fmla="*/ 173 h 173"/>
              <a:gd name="T2" fmla="*/ 10 w 753"/>
              <a:gd name="T3" fmla="*/ 173 h 173"/>
              <a:gd name="T4" fmla="*/ 3 w 753"/>
              <a:gd name="T5" fmla="*/ 164 h 173"/>
              <a:gd name="T6" fmla="*/ 73 w 753"/>
              <a:gd name="T7" fmla="*/ 89 h 173"/>
              <a:gd name="T8" fmla="*/ 73 w 753"/>
              <a:gd name="T9" fmla="*/ 83 h 173"/>
              <a:gd name="T10" fmla="*/ 3 w 753"/>
              <a:gd name="T11" fmla="*/ 8 h 173"/>
              <a:gd name="T12" fmla="*/ 10 w 753"/>
              <a:gd name="T13" fmla="*/ 0 h 173"/>
              <a:gd name="T14" fmla="*/ 669 w 753"/>
              <a:gd name="T15" fmla="*/ 0 h 173"/>
              <a:gd name="T16" fmla="*/ 675 w 753"/>
              <a:gd name="T17" fmla="*/ 2 h 173"/>
              <a:gd name="T18" fmla="*/ 751 w 753"/>
              <a:gd name="T19" fmla="*/ 83 h 173"/>
              <a:gd name="T20" fmla="*/ 751 w 753"/>
              <a:gd name="T21" fmla="*/ 89 h 173"/>
              <a:gd name="T22" fmla="*/ 675 w 753"/>
              <a:gd name="T23" fmla="*/ 170 h 173"/>
              <a:gd name="T24" fmla="*/ 669 w 753"/>
              <a:gd name="T25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53" h="173">
                <a:moveTo>
                  <a:pt x="669" y="173"/>
                </a:moveTo>
                <a:cubicBezTo>
                  <a:pt x="10" y="173"/>
                  <a:pt x="10" y="173"/>
                  <a:pt x="10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10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444A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6" name="Freeform 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02350" y="2400300"/>
            <a:ext cx="2452688" cy="565150"/>
          </a:xfrm>
          <a:custGeom>
            <a:avLst/>
            <a:gdLst>
              <a:gd name="T0" fmla="*/ 669 w 753"/>
              <a:gd name="T1" fmla="*/ 173 h 173"/>
              <a:gd name="T2" fmla="*/ 9 w 753"/>
              <a:gd name="T3" fmla="*/ 173 h 173"/>
              <a:gd name="T4" fmla="*/ 3 w 753"/>
              <a:gd name="T5" fmla="*/ 164 h 173"/>
              <a:gd name="T6" fmla="*/ 73 w 753"/>
              <a:gd name="T7" fmla="*/ 89 h 173"/>
              <a:gd name="T8" fmla="*/ 73 w 753"/>
              <a:gd name="T9" fmla="*/ 83 h 173"/>
              <a:gd name="T10" fmla="*/ 3 w 753"/>
              <a:gd name="T11" fmla="*/ 8 h 173"/>
              <a:gd name="T12" fmla="*/ 9 w 753"/>
              <a:gd name="T13" fmla="*/ 0 h 173"/>
              <a:gd name="T14" fmla="*/ 669 w 753"/>
              <a:gd name="T15" fmla="*/ 0 h 173"/>
              <a:gd name="T16" fmla="*/ 675 w 753"/>
              <a:gd name="T17" fmla="*/ 2 h 173"/>
              <a:gd name="T18" fmla="*/ 751 w 753"/>
              <a:gd name="T19" fmla="*/ 83 h 173"/>
              <a:gd name="T20" fmla="*/ 751 w 753"/>
              <a:gd name="T21" fmla="*/ 89 h 173"/>
              <a:gd name="T22" fmla="*/ 675 w 753"/>
              <a:gd name="T23" fmla="*/ 170 h 173"/>
              <a:gd name="T24" fmla="*/ 669 w 753"/>
              <a:gd name="T25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53" h="173">
                <a:moveTo>
                  <a:pt x="669" y="173"/>
                </a:moveTo>
                <a:cubicBezTo>
                  <a:pt x="9" y="173"/>
                  <a:pt x="9" y="173"/>
                  <a:pt x="9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9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5D6C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7" name="Freeform 1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428038" y="2400300"/>
            <a:ext cx="2451100" cy="565150"/>
          </a:xfrm>
          <a:custGeom>
            <a:avLst/>
            <a:gdLst>
              <a:gd name="T0" fmla="*/ 669 w 753"/>
              <a:gd name="T1" fmla="*/ 173 h 173"/>
              <a:gd name="T2" fmla="*/ 9 w 753"/>
              <a:gd name="T3" fmla="*/ 173 h 173"/>
              <a:gd name="T4" fmla="*/ 3 w 753"/>
              <a:gd name="T5" fmla="*/ 164 h 173"/>
              <a:gd name="T6" fmla="*/ 73 w 753"/>
              <a:gd name="T7" fmla="*/ 89 h 173"/>
              <a:gd name="T8" fmla="*/ 73 w 753"/>
              <a:gd name="T9" fmla="*/ 83 h 173"/>
              <a:gd name="T10" fmla="*/ 3 w 753"/>
              <a:gd name="T11" fmla="*/ 8 h 173"/>
              <a:gd name="T12" fmla="*/ 9 w 753"/>
              <a:gd name="T13" fmla="*/ 0 h 173"/>
              <a:gd name="T14" fmla="*/ 669 w 753"/>
              <a:gd name="T15" fmla="*/ 0 h 173"/>
              <a:gd name="T16" fmla="*/ 675 w 753"/>
              <a:gd name="T17" fmla="*/ 2 h 173"/>
              <a:gd name="T18" fmla="*/ 751 w 753"/>
              <a:gd name="T19" fmla="*/ 83 h 173"/>
              <a:gd name="T20" fmla="*/ 751 w 753"/>
              <a:gd name="T21" fmla="*/ 89 h 173"/>
              <a:gd name="T22" fmla="*/ 675 w 753"/>
              <a:gd name="T23" fmla="*/ 170 h 173"/>
              <a:gd name="T24" fmla="*/ 669 w 753"/>
              <a:gd name="T25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53" h="173">
                <a:moveTo>
                  <a:pt x="669" y="173"/>
                </a:moveTo>
                <a:cubicBezTo>
                  <a:pt x="9" y="173"/>
                  <a:pt x="9" y="173"/>
                  <a:pt x="9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9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6B94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060344" y="506729"/>
            <a:ext cx="10515600" cy="6013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3"/>
          </p:nvPr>
        </p:nvSpPr>
        <p:spPr>
          <a:xfrm>
            <a:off x="1371600" y="1354138"/>
            <a:ext cx="9507538" cy="51752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0" name="文本占位符 39"/>
          <p:cNvSpPr>
            <a:spLocks noGrp="1"/>
          </p:cNvSpPr>
          <p:nvPr>
            <p:ph type="body" sz="quarter" idx="14"/>
          </p:nvPr>
        </p:nvSpPr>
        <p:spPr>
          <a:xfrm>
            <a:off x="1579245" y="2528888"/>
            <a:ext cx="2032635" cy="30797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1" name="文本占位符 39"/>
          <p:cNvSpPr>
            <a:spLocks noGrp="1"/>
          </p:cNvSpPr>
          <p:nvPr>
            <p:ph type="body" sz="quarter" idx="15"/>
          </p:nvPr>
        </p:nvSpPr>
        <p:spPr>
          <a:xfrm>
            <a:off x="4046855" y="2520315"/>
            <a:ext cx="2032635" cy="30797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2" name="文本占位符 39"/>
          <p:cNvSpPr>
            <a:spLocks noGrp="1"/>
          </p:cNvSpPr>
          <p:nvPr>
            <p:ph type="body" sz="quarter" idx="16"/>
          </p:nvPr>
        </p:nvSpPr>
        <p:spPr>
          <a:xfrm>
            <a:off x="6372225" y="2517459"/>
            <a:ext cx="2032635" cy="30797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3" name="文本占位符 39"/>
          <p:cNvSpPr>
            <a:spLocks noGrp="1"/>
          </p:cNvSpPr>
          <p:nvPr>
            <p:ph type="body" sz="quarter" idx="17"/>
          </p:nvPr>
        </p:nvSpPr>
        <p:spPr>
          <a:xfrm>
            <a:off x="8697595" y="2526242"/>
            <a:ext cx="2032635" cy="30797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5" name="内容占位符 44"/>
          <p:cNvSpPr>
            <a:spLocks noGrp="1"/>
          </p:cNvSpPr>
          <p:nvPr>
            <p:ph sz="quarter" idx="18"/>
          </p:nvPr>
        </p:nvSpPr>
        <p:spPr>
          <a:xfrm>
            <a:off x="1437004" y="3082925"/>
            <a:ext cx="2174875" cy="25638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6" name="内容占位符 44"/>
          <p:cNvSpPr>
            <a:spLocks noGrp="1"/>
          </p:cNvSpPr>
          <p:nvPr>
            <p:ph sz="quarter" idx="19"/>
          </p:nvPr>
        </p:nvSpPr>
        <p:spPr>
          <a:xfrm>
            <a:off x="3784758" y="3082925"/>
            <a:ext cx="2174875" cy="25638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7" name="内容占位符 44"/>
          <p:cNvSpPr>
            <a:spLocks noGrp="1"/>
          </p:cNvSpPr>
          <p:nvPr>
            <p:ph sz="quarter" idx="20"/>
          </p:nvPr>
        </p:nvSpPr>
        <p:spPr>
          <a:xfrm>
            <a:off x="6132512" y="3090122"/>
            <a:ext cx="2174875" cy="25638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8" name="内容占位符 44"/>
          <p:cNvSpPr>
            <a:spLocks noGrp="1"/>
          </p:cNvSpPr>
          <p:nvPr>
            <p:ph sz="quarter" idx="21"/>
          </p:nvPr>
        </p:nvSpPr>
        <p:spPr>
          <a:xfrm>
            <a:off x="8480266" y="3090122"/>
            <a:ext cx="2174875" cy="25638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8" name="日期占位符 3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" name="页脚占位符 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19446-F00A-461D-9ED4-CAAD1C55574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938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73127"/>
            <a:ext cx="10515600" cy="1911747"/>
          </a:xfrm>
        </p:spPr>
        <p:txBody>
          <a:bodyPr>
            <a:norm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C306B-B945-4372-8B51-38C52E020DE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文字与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六边形 4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2" cy="601662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33357" y="506730"/>
            <a:ext cx="6096000" cy="60134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1820332"/>
            <a:ext cx="6170400" cy="40404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1820332"/>
            <a:ext cx="4165200" cy="404865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154CD-0EEC-4E10-9317-350E399CCCA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5" y="365126"/>
            <a:ext cx="1529316" cy="5811839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8879959" cy="5811839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六边形 7"/>
          <p:cNvSpPr/>
          <p:nvPr/>
        </p:nvSpPr>
        <p:spPr>
          <a:xfrm>
            <a:off x="119063" y="620713"/>
            <a:ext cx="698500" cy="601662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D90C1-0531-421B-B7D8-1295C2DAEB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778625"/>
            <a:ext cx="1219200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1027" name="标题占位符 1"/>
          <p:cNvSpPr>
            <a:spLocks noGrp="1" noChangeArrowheads="1"/>
          </p:cNvSpPr>
          <p:nvPr>
            <p:ph type="title" idx="4294967295"/>
            <p:custDataLst>
              <p:tags r:id="rId13"/>
            </p:custDataLst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9"/>
            <p:custDataLst>
              <p:tags r:id="rId14"/>
            </p:custDataLst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buFontTx/>
              <a:buNone/>
              <a:defRPr sz="1200" noProof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buFontTx/>
              <a:buNone/>
              <a:defRPr sz="1200" noProof="1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fontAlgn="auto" hangingPunct="1">
              <a:buFontTx/>
              <a:buNone/>
              <a:defRPr sz="1200" noProof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ea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/root/&#19979;&#36733;/test.mp4" TargetMode="Externa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selectsystem </a:t>
            </a:r>
            <a:r>
              <a:rPr lang="zh-CN" altLang="en-US"/>
              <a:t>选课系统</a:t>
            </a:r>
            <a:endParaRPr lang="zh-CN" alt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0000"/>
          </a:bodyPr>
          <a:p>
            <a:r>
              <a:rPr lang="zh-CN"/>
              <a:t>参与人员：段恩来，陈龙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5165864" y="1921114"/>
            <a:ext cx="4477001" cy="433585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en-US" altLang="zh-CN" sz="9600"/>
              <a:t>1.</a:t>
            </a:r>
            <a:r>
              <a:rPr lang="zh-CN" altLang="en-US" sz="9600"/>
              <a:t>项目概述与实现目标</a:t>
            </a:r>
            <a:endParaRPr lang="zh-CN" altLang="en-US" sz="9600"/>
          </a:p>
          <a:p>
            <a:pPr marL="0" indent="0">
              <a:buNone/>
            </a:pPr>
            <a:endParaRPr lang="en-US" altLang="zh-CN" sz="9600"/>
          </a:p>
          <a:p>
            <a:pPr marL="0" indent="0">
              <a:buNone/>
            </a:pPr>
            <a:r>
              <a:rPr lang="en-US" altLang="zh-CN" sz="9600"/>
              <a:t>2.</a:t>
            </a:r>
            <a:r>
              <a:rPr lang="zh-CN" altLang="en-US" sz="9600"/>
              <a:t>项目结构与核心模块设计</a:t>
            </a:r>
            <a:endParaRPr lang="zh-CN" altLang="en-US" sz="9600"/>
          </a:p>
          <a:p>
            <a:pPr marL="0" indent="0">
              <a:buNone/>
            </a:pPr>
            <a:endParaRPr lang="en-US" altLang="zh-CN" sz="9600"/>
          </a:p>
          <a:p>
            <a:pPr marL="0" indent="0">
              <a:buNone/>
            </a:pPr>
            <a:r>
              <a:rPr lang="en-US" altLang="zh-CN" sz="9600"/>
              <a:t>3.</a:t>
            </a:r>
            <a:r>
              <a:rPr lang="zh-CN" altLang="en-US" sz="9600"/>
              <a:t>关键技术实现与难点突破</a:t>
            </a:r>
            <a:endParaRPr lang="zh-CN" altLang="en-US" sz="9600"/>
          </a:p>
          <a:p>
            <a:pPr marL="0" indent="0">
              <a:buNone/>
            </a:pPr>
            <a:endParaRPr lang="en-US" altLang="zh-CN" sz="9600"/>
          </a:p>
          <a:p>
            <a:pPr marL="0" indent="0">
              <a:buNone/>
            </a:pPr>
            <a:r>
              <a:rPr lang="en-US" altLang="zh-CN" sz="9600"/>
              <a:t>4.</a:t>
            </a:r>
            <a:r>
              <a:rPr lang="zh-CN" altLang="en-US" sz="9600"/>
              <a:t>运行测试结果（部署 + 功能演示）</a:t>
            </a:r>
            <a:endParaRPr lang="zh-CN" altLang="en-US" sz="9600"/>
          </a:p>
          <a:p>
            <a:pPr marL="0" indent="0">
              <a:buNone/>
            </a:pPr>
            <a:endParaRPr lang="en-US" altLang="zh-CN" sz="9600"/>
          </a:p>
          <a:p>
            <a:pPr marL="0" indent="0">
              <a:buNone/>
            </a:pPr>
            <a:r>
              <a:rPr lang="en-US" altLang="zh-CN" sz="9600"/>
              <a:t>5.</a:t>
            </a:r>
            <a:r>
              <a:rPr lang="zh-CN" altLang="en-US" sz="9600"/>
              <a:t>团队分工与开发心得</a:t>
            </a:r>
            <a:endParaRPr lang="zh-CN" altLang="en-US" sz="960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479429" y="719382"/>
            <a:ext cx="4477001" cy="642117"/>
          </a:xfrm>
        </p:spPr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  项目名称：selectsystem（简称 sc）  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  </a:t>
            </a:r>
            <a:r>
              <a:rPr lang="zh-CN" altLang="en-US"/>
              <a:t>面向选课场景，实现多角色（学生 / 教师 / 教务秘书）的课程管理需求</a:t>
            </a:r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r>
              <a:rPr lang="en-US" altLang="zh-CN"/>
              <a:t>  </a:t>
            </a:r>
            <a:r>
              <a:rPr lang="zh-CN" altLang="en-US"/>
              <a:t>基础需求：完成选课、退课、课程查询、学籍管理等核心功能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  </a:t>
            </a:r>
            <a:r>
              <a:rPr lang="zh-CN" altLang="en-US"/>
              <a:t>部署要求：系统部署在本地环境，通过菜单运行，不直接依赖 Qt Creator 调试运行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项目概述与实现目标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  </a:t>
            </a:r>
            <a:r>
              <a:rPr lang="zh-CN" altLang="en-US"/>
              <a:t>模块分层	核心功能	</a:t>
            </a:r>
            <a:r>
              <a:rPr lang="en-US" altLang="zh-CN"/>
              <a:t>  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</a:t>
            </a:r>
            <a:r>
              <a:rPr lang="zh-CN" altLang="en-US"/>
              <a:t>UI 层</a:t>
            </a:r>
            <a:r>
              <a:rPr lang="en-US" altLang="zh-CN"/>
              <a:t> </a:t>
            </a:r>
            <a:r>
              <a:rPr lang="zh-CN" altLang="en-US"/>
              <a:t>	菜单交互入口，接收用户操作指令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  </a:t>
            </a:r>
            <a:r>
              <a:rPr lang="zh-CN" altLang="en-US"/>
              <a:t>服务层	封装选课 / 退课 / 查询等业务逻辑	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  </a:t>
            </a:r>
            <a:r>
              <a:rPr lang="zh-CN" altLang="en-US"/>
              <a:t>领域层	定义学生 / 教师 / 课程等核心实体	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  </a:t>
            </a:r>
            <a:r>
              <a:rPr lang="zh-CN" altLang="en-US"/>
              <a:t>仓储层	处理数据持久化与查询	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项目结构与核心模块设计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内容占位符 6" descr="qqqqq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2971165"/>
            <a:ext cx="5181600" cy="3033395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zh-CN" altLang="en-US"/>
              <a:t>开发难点与解决方案</a:t>
            </a:r>
            <a:endParaRPr lang="zh-CN" altLang="en-US"/>
          </a:p>
          <a:p>
            <a:r>
              <a:rPr lang="zh-CN" altLang="en-US"/>
              <a:t>C++23 模块化兼容性问题	限定编译器版本，提前测试环境兼容性</a:t>
            </a:r>
            <a:endParaRPr lang="zh-CN" altLang="en-US"/>
          </a:p>
          <a:p>
            <a:r>
              <a:rPr lang="zh-CN" altLang="en-US"/>
              <a:t>部署时脱离 Qt Creator 运行	编译生成可执行文件sc，通过终端执行./sc，UI 层封装纯控制台菜单逻辑</a:t>
            </a:r>
            <a:endParaRPr lang="zh-CN" altLang="en-US"/>
          </a:p>
          <a:p>
            <a:r>
              <a:rPr lang="zh-CN" altLang="en-US"/>
              <a:t>数据持久化与模块解耦	仓储层独立封装文件读写逻辑，服务层调用接口，不直接操作文件</a:t>
            </a:r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关键技术实现与难点突破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38200" y="19983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3"/>
            <a:r>
              <a:rPr lang="zh-CN" altLang="en-US"/>
              <a:t>模块化核心代码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在连接数据库时模块化环境下数据库库文件链接失败</a:t>
            </a:r>
            <a:endParaRPr lang="zh-CN" altLang="en-US"/>
          </a:p>
          <a:p>
            <a:r>
              <a:rPr lang="zh-CN" altLang="en-US"/>
              <a:t>模块化环境下库链接失败：因 C++23 模块化对第三方库链接要求严格。需在 CMake 中指定 数据库 头文件 / 库文件路径并链接对应库，同时在.cppm模块前言区（module;后）包含 MySQL 头文件，避免编译冲突。</a:t>
            </a:r>
            <a:endParaRPr lang="zh-CN" altLang="en-US"/>
          </a:p>
          <a:p>
            <a:r>
              <a:rPr lang="zh-CN" altLang="en-US"/>
              <a:t>模块与 SQL 头文件冲突，数据库的 C API 头文件包含大量宏定义和全局结构体，与 C++23 模块的编译规则冲突，未解决</a:t>
            </a:r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连接数据库遇到问题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内容占位符 9" descr="cccc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38545" y="1840865"/>
            <a:ext cx="3977005" cy="4351655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运行测试结果（部署 + 功能演示）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480820" y="536384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hlinkClick r:id="rId2" tooltip="" action="ppaction://hlinkfile"/>
              </a:rPr>
              <a:t>功能演示</a:t>
            </a:r>
            <a:endParaRPr lang="zh-CN" altLang="en-US" sz="3600"/>
          </a:p>
        </p:txBody>
      </p:sp>
      <p:sp>
        <p:nvSpPr>
          <p:cNvPr id="17" name="文本框 16"/>
          <p:cNvSpPr txBox="1"/>
          <p:nvPr/>
        </p:nvSpPr>
        <p:spPr>
          <a:xfrm>
            <a:off x="1480820" y="2169795"/>
            <a:ext cx="4064000" cy="568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/>
              <a:t>部署在系统应用菜单</a:t>
            </a:r>
            <a:endParaRPr lang="zh-CN" altLang="en-US" sz="3200"/>
          </a:p>
        </p:txBody>
      </p:sp>
      <p:sp>
        <p:nvSpPr>
          <p:cNvPr id="18" name="文本框 17"/>
          <p:cNvSpPr txBox="1"/>
          <p:nvPr/>
        </p:nvSpPr>
        <p:spPr>
          <a:xfrm>
            <a:off x="1465580" y="3429000"/>
            <a:ext cx="406400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在连接数据库时模块化环境下数据库库文件链接失败等问题，最终提交简单可运行程序代码</a:t>
            </a:r>
            <a:endParaRPr lang="zh-CN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段恩来：领域层模块开发（实体类定义）、部署测试、视频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陈龙：服务层 + 仓储层开发（业务 + 数据逻辑）</a:t>
            </a:r>
            <a:r>
              <a:rPr lang="zh-CN" altLang="en-US">
                <a:sym typeface="+mn-ea"/>
              </a:rPr>
              <a:t>UML 建模，</a:t>
            </a:r>
            <a:r>
              <a:rPr lang="zh-CN" altLang="en-US"/>
              <a:t>文档编写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模块化优势：初期搭建模块框架耗时，但后期新增功能仅需扩展模块，效率提升显著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团队协作：分层开发让分工明确，代码合并时无冲突，核心是提前约定模块接口规范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团队分工与开发心得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r_i"/>
  <p:tag name="KSO_WM_UNIT_ID" val="custom2_11*r_i*1_1"/>
  <p:tag name="KSO_WM_TEMPLATE_CATEGORY" val="custom"/>
  <p:tag name="KSO_WM_TEMPLATE_INDEX" val="2"/>
  <p:tag name="KSO_WM_UNIT_INDEX" val="1_1"/>
  <p:tag name="KSO_WM_UNIT_HIGHLIGHT" val="0"/>
  <p:tag name="KSO_WM_UNIT_COMPATIBLE" val="0"/>
  <p:tag name="KSO_WM_DIAGRAM_GROUP_CODE" val="r1-1"/>
  <p:tag name="KSO_WM_UNIT_LAYERLEVEL" val="1_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custom2_10*m_h_i*1_1_1"/>
  <p:tag name="KSO_WM_TEMPLATE_CATEGORY" val="custom"/>
  <p:tag name="KSO_WM_TEMPLATE_INDEX" val="2"/>
  <p:tag name="KSO_WM_UNIT_LAYERLEVEL" val="1_1_1"/>
  <p:tag name="KSO_WM_TAG_VERSION" val="1.0"/>
  <p:tag name="KSO_WM_BEAUTIFY_FLAG" val="#wm#"/>
  <p:tag name="KSO_WM_DIAGRAM_GROUP_CODE" val="m1-4"/>
  <p:tag name="KSO_WM_UNIT_TYPE" val="m_h_i"/>
  <p:tag name="KSO_WM_UNIT_INDEX" val="1_1_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ID" val="custom2_10*m_h_i*1_2_1"/>
  <p:tag name="KSO_WM_TEMPLATE_CATEGORY" val="custom"/>
  <p:tag name="KSO_WM_TEMPLATE_INDEX" val="2"/>
  <p:tag name="KSO_WM_UNIT_LAYERLEVEL" val="1_1_1"/>
  <p:tag name="KSO_WM_TAG_VERSION" val="1.0"/>
  <p:tag name="KSO_WM_BEAUTIFY_FLAG" val="#wm#"/>
  <p:tag name="KSO_WM_DIAGRAM_GROUP_CODE" val="m1-4"/>
  <p:tag name="KSO_WM_UNIT_TYPE" val="m_h_i"/>
  <p:tag name="KSO_WM_UNIT_INDEX" val="1_2_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ID" val="custom2_10*m_h_i*1_3_1"/>
  <p:tag name="KSO_WM_TEMPLATE_CATEGORY" val="custom"/>
  <p:tag name="KSO_WM_TEMPLATE_INDEX" val="2"/>
  <p:tag name="KSO_WM_UNIT_LAYERLEVEL" val="1_1_1"/>
  <p:tag name="KSO_WM_TAG_VERSION" val="1.0"/>
  <p:tag name="KSO_WM_BEAUTIFY_FLAG" val="#wm#"/>
  <p:tag name="KSO_WM_DIAGRAM_GROUP_CODE" val="m1-4"/>
  <p:tag name="KSO_WM_UNIT_TYPE" val="m_h_i"/>
  <p:tag name="KSO_WM_UNIT_INDEX" val="1_3_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ID" val="custom2_10*m_h_i*1_4_1"/>
  <p:tag name="KSO_WM_TEMPLATE_CATEGORY" val="custom"/>
  <p:tag name="KSO_WM_TEMPLATE_INDEX" val="2"/>
  <p:tag name="KSO_WM_UNIT_LAYERLEVEL" val="1_1_1"/>
  <p:tag name="KSO_WM_TAG_VERSION" val="1.0"/>
  <p:tag name="KSO_WM_BEAUTIFY_FLAG" val="#wm#"/>
  <p:tag name="KSO_WM_DIAGRAM_GROUP_CODE" val="m1-4"/>
  <p:tag name="KSO_WM_UNIT_TYPE" val="m_h_i"/>
  <p:tag name="KSO_WM_UNIT_INDEX" val="1_4_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1.xml><?xml version="1.0" encoding="utf-8"?>
<p:tagLst xmlns:p="http://schemas.openxmlformats.org/presentationml/2006/main">
  <p:tag name="KSO_WM_TAG_VERSION" val="1.0"/>
  <p:tag name="KSO_WM_TEMPLATE_CATEGORY" val="custom"/>
  <p:tag name="KSO_WM_TEMPLATE_INDEX" val="2"/>
</p:tagLst>
</file>

<file path=ppt/tags/tag12.xml><?xml version="1.0" encoding="utf-8"?>
<p:tagLst xmlns:p="http://schemas.openxmlformats.org/presentationml/2006/main">
  <p:tag name="KSO_WM_TAG_VERSION" val="1.0"/>
  <p:tag name="KSO_WM_TEMPLATE_CATEGORY" val="custom"/>
  <p:tag name="KSO_WM_TEMPLATE_INDEX" val="2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1944_1"/>
  <p:tag name="KSO_WM_TEMPLATE_CATEGORY" val="custom"/>
  <p:tag name="KSO_WM_TEMPLATE_INDEX" val="2"/>
  <p:tag name="KSO_WM_TEMPLATE_SUBCATEGORY" val="combine"/>
  <p:tag name="KSO_WM_TEMPLATE_THUMBS_INDEX" val="1、4、5、6、12、13、17、22、28、29、"/>
</p:tagLst>
</file>

<file path=ppt/theme/theme1.xml><?xml version="1.0" encoding="utf-8"?>
<a:theme xmlns:a="http://schemas.openxmlformats.org/drawingml/2006/main" name="black and white">
  <a:themeElements>
    <a:clrScheme name="112701">
      <a:dk1>
        <a:sysClr val="windowText" lastClr="000000"/>
      </a:dk1>
      <a:lt1>
        <a:sysClr val="window" lastClr="FFFFFF"/>
      </a:lt1>
      <a:dk2>
        <a:srgbClr val="262626"/>
      </a:dk2>
      <a:lt2>
        <a:srgbClr val="EEECE1"/>
      </a:lt2>
      <a:accent1>
        <a:srgbClr val="FFFFFF"/>
      </a:accent1>
      <a:accent2>
        <a:srgbClr val="1B1E1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</Words>
  <Application>WPS 演示</Application>
  <PresentationFormat>宽屏</PresentationFormat>
  <Paragraphs>70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宋体</vt:lpstr>
      <vt:lpstr>Arial Unicode MS</vt:lpstr>
      <vt:lpstr>Calibri Light</vt:lpstr>
      <vt:lpstr>方正书宋_GBK</vt:lpstr>
      <vt:lpstr>微软雅黑</vt:lpstr>
      <vt:lpstr>Calibri</vt:lpstr>
      <vt:lpstr>黑体</vt:lpstr>
      <vt:lpstr>方正黑体_GBK</vt:lpstr>
      <vt:lpstr>DejaVu Sans</vt:lpstr>
      <vt:lpstr>微软雅黑</vt:lpstr>
      <vt:lpstr>黑体</vt:lpstr>
      <vt:lpstr>black and 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root</dc:creator>
  <cp:lastModifiedBy>root</cp:lastModifiedBy>
  <cp:revision>4</cp:revision>
  <dcterms:created xsi:type="dcterms:W3CDTF">2026-03-15T02:53:56Z</dcterms:created>
  <dcterms:modified xsi:type="dcterms:W3CDTF">2026-03-15T02:53:56Z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E7D91FCF27D6723ACE12B669089532E5_41</vt:lpwstr>
  </property>
</Properties>
</file>